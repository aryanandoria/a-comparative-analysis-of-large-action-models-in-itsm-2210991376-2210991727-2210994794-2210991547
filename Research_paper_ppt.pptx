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96075"/>
            <a:ext cx="9144000" cy="1619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1924050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143625" y="0"/>
            <a:ext cx="3000375" cy="838200"/>
          </a:xfrm>
          <a:custGeom>
            <a:avLst/>
            <a:gdLst/>
            <a:ahLst/>
            <a:cxnLst/>
            <a:rect l="l" t="t" r="r" b="b"/>
            <a:pathLst>
              <a:path w="3000375" h="838200">
                <a:moveTo>
                  <a:pt x="3000375" y="0"/>
                </a:moveTo>
                <a:lnTo>
                  <a:pt x="0" y="0"/>
                </a:lnTo>
                <a:lnTo>
                  <a:pt x="0" y="838200"/>
                </a:lnTo>
                <a:lnTo>
                  <a:pt x="3000375" y="838200"/>
                </a:lnTo>
                <a:lnTo>
                  <a:pt x="300037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200" y="228600"/>
            <a:ext cx="2057400" cy="63817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24625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1924050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13017"/>
            <a:ext cx="4511357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9250" y="1712277"/>
            <a:ext cx="8093709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sat.org/papers/2024/4/6241.pdf" TargetMode="External"/><Relationship Id="rId2" Type="http://schemas.openxmlformats.org/officeDocument/2006/relationships/hyperlink" Target="https://eapj.org/the-ai-native-enterprise-rearchitecting-your-gtm-stack-for-agent-driven-operati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604.11623" TargetMode="External"/><Relationship Id="rId4" Type="http://schemas.openxmlformats.org/officeDocument/2006/relationships/hyperlink" Target="https://arxiv.org/pdf/2604.25724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217" y="820927"/>
            <a:ext cx="7198359" cy="523430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Presentation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CO-</a:t>
            </a:r>
            <a:r>
              <a:rPr sz="1800" b="1" dirty="0">
                <a:latin typeface="Times New Roman"/>
                <a:cs typeface="Times New Roman"/>
              </a:rPr>
              <a:t>OP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Industry</a:t>
            </a:r>
            <a:r>
              <a:rPr sz="1800" b="1" spc="-10" dirty="0">
                <a:latin typeface="Times New Roman"/>
                <a:cs typeface="Times New Roman"/>
              </a:rPr>
              <a:t> (Module-</a:t>
            </a:r>
            <a:r>
              <a:rPr sz="1800" b="1" dirty="0">
                <a:latin typeface="Times New Roman"/>
                <a:cs typeface="Times New Roman"/>
              </a:rPr>
              <a:t>2)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(22CS421)</a:t>
            </a:r>
            <a:endParaRPr sz="18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  <a:spcBef>
                <a:spcPts val="420"/>
              </a:spcBef>
            </a:pPr>
            <a:r>
              <a:rPr sz="2000" spc="-25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From</a:t>
            </a:r>
            <a:r>
              <a:rPr sz="2000" b="1" spc="-5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Chatbots</a:t>
            </a:r>
            <a:r>
              <a:rPr sz="2000" b="1" spc="-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r>
              <a:rPr sz="2000" b="1" spc="-1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A1A1A"/>
                </a:solidFill>
                <a:latin typeface="Times New Roman"/>
                <a:cs typeface="Times New Roman"/>
              </a:rPr>
              <a:t>Agentic</a:t>
            </a:r>
            <a:r>
              <a:rPr sz="2000" b="1" spc="-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1A1A1A"/>
                </a:solidFill>
                <a:latin typeface="Times New Roman"/>
                <a:cs typeface="Times New Roman"/>
              </a:rPr>
              <a:t>AI: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sz="2000" b="1" spc="-10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A1A1A"/>
                </a:solidFill>
                <a:latin typeface="Times New Roman"/>
                <a:cs typeface="Times New Roman"/>
              </a:rPr>
              <a:t>Comparative</a:t>
            </a:r>
            <a:r>
              <a:rPr sz="2000" b="1" spc="-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Analysis</a:t>
            </a:r>
            <a:r>
              <a:rPr sz="2000" b="1" spc="-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sz="2000" b="1" spc="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1A1A1A"/>
                </a:solidFill>
                <a:latin typeface="Times New Roman"/>
                <a:cs typeface="Times New Roman"/>
              </a:rPr>
              <a:t>Large</a:t>
            </a:r>
            <a:r>
              <a:rPr sz="2000" b="1" spc="-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Action</a:t>
            </a:r>
            <a:r>
              <a:rPr sz="2000" b="1" spc="-6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Models</a:t>
            </a:r>
            <a:r>
              <a:rPr sz="2000" b="1" spc="-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A1A1A"/>
                </a:solidFill>
                <a:latin typeface="Times New Roman"/>
                <a:cs typeface="Times New Roman"/>
              </a:rPr>
              <a:t>in</a:t>
            </a:r>
            <a:r>
              <a:rPr sz="2000" b="1" spc="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1A1A1A"/>
                </a:solidFill>
                <a:latin typeface="Times New Roman"/>
                <a:cs typeface="Times New Roman"/>
              </a:rPr>
              <a:t>ITSM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000">
              <a:latin typeface="Times New Roman"/>
              <a:cs typeface="Times New Roman"/>
            </a:endParaRPr>
          </a:p>
          <a:p>
            <a:pPr marL="2313940" marR="2310130" algn="ctr">
              <a:lnSpc>
                <a:spcPct val="1157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Satish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2210991727 </a:t>
            </a:r>
            <a:r>
              <a:rPr sz="2000" dirty="0">
                <a:latin typeface="Times New Roman"/>
                <a:cs typeface="Times New Roman"/>
              </a:rPr>
              <a:t>Janvi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2210994794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Aryan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Andoria 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2210991376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Times New Roman"/>
                <a:cs typeface="Times New Roman"/>
              </a:rPr>
              <a:t>Diya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Saini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2210991547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000">
              <a:latin typeface="Times New Roman"/>
              <a:cs typeface="Times New Roman"/>
            </a:endParaRPr>
          </a:p>
          <a:p>
            <a:pPr marR="1270" algn="ctr">
              <a:lnSpc>
                <a:spcPct val="100000"/>
              </a:lnSpc>
            </a:pPr>
            <a:r>
              <a:rPr sz="1550" dirty="0">
                <a:latin typeface="Times New Roman"/>
                <a:cs typeface="Times New Roman"/>
              </a:rPr>
              <a:t>Supervised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  <a:p>
            <a:pPr marL="64769" algn="ctr">
              <a:lnSpc>
                <a:spcPct val="100000"/>
              </a:lnSpc>
              <a:spcBef>
                <a:spcPts val="395"/>
              </a:spcBef>
            </a:pPr>
            <a:r>
              <a:rPr sz="2000" spc="-10" dirty="0">
                <a:latin typeface="Times New Roman"/>
                <a:cs typeface="Times New Roman"/>
              </a:rPr>
              <a:t>Dr.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Isha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Kansal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>
              <a:latin typeface="Times New Roman"/>
              <a:cs typeface="Times New Roman"/>
            </a:endParaRPr>
          </a:p>
          <a:p>
            <a:pPr marL="478155" marR="479425" algn="ctr">
              <a:lnSpc>
                <a:spcPct val="112200"/>
              </a:lnSpc>
            </a:pP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Engineering, </a:t>
            </a:r>
            <a:r>
              <a:rPr sz="2400" dirty="0">
                <a:latin typeface="Times New Roman"/>
                <a:cs typeface="Times New Roman"/>
              </a:rPr>
              <a:t>Chitkara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University,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Punjab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2556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022" y="1388681"/>
            <a:ext cx="3987800" cy="42913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135" marR="9271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Modern</a:t>
            </a:r>
            <a:r>
              <a:rPr sz="18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enterprises</a:t>
            </a:r>
            <a:r>
              <a:rPr sz="1800" spc="-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rely</a:t>
            </a:r>
            <a:r>
              <a:rPr sz="1800" spc="-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sz="18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dense</a:t>
            </a:r>
            <a:r>
              <a:rPr sz="1800" spc="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webs</a:t>
            </a:r>
            <a:r>
              <a:rPr sz="1800" spc="-3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cloud</a:t>
            </a:r>
            <a:r>
              <a:rPr sz="1800" spc="-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infrastructure,SaaS</a:t>
            </a:r>
            <a:r>
              <a:rPr sz="1800" spc="-5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platforms,</a:t>
            </a:r>
            <a:r>
              <a:rPr sz="18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internal</a:t>
            </a:r>
            <a:r>
              <a:rPr sz="1800" spc="-7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databases.</a:t>
            </a:r>
            <a:r>
              <a:rPr sz="18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Managing</a:t>
            </a:r>
            <a:r>
              <a:rPr sz="1800" spc="-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A1A1A"/>
                </a:solidFill>
                <a:latin typeface="Times New Roman"/>
                <a:cs typeface="Times New Roman"/>
              </a:rPr>
              <a:t>them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requiresresponsive</a:t>
            </a:r>
            <a:r>
              <a:rPr sz="180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A1A1A"/>
                </a:solidFill>
                <a:latin typeface="Times New Roman"/>
                <a:cs typeface="Times New Roman"/>
              </a:rPr>
              <a:t>ITSM</a:t>
            </a:r>
            <a:r>
              <a:rPr sz="1800" spc="-6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Times New Roman"/>
                <a:cs typeface="Times New Roman"/>
              </a:rPr>
              <a:t>frameworks.</a:t>
            </a:r>
            <a:endParaRPr sz="1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000"/>
              </a:lnSpc>
              <a:spcBef>
                <a:spcPts val="1860"/>
              </a:spcBef>
            </a:pPr>
            <a:r>
              <a:rPr sz="1550" b="1" dirty="0">
                <a:latin typeface="Times New Roman"/>
                <a:cs typeface="Times New Roman"/>
              </a:rPr>
              <a:t>The</a:t>
            </a:r>
            <a:r>
              <a:rPr sz="1550" b="1" spc="5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Automation</a:t>
            </a:r>
            <a:r>
              <a:rPr sz="1550" b="1" spc="12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Gap:</a:t>
            </a:r>
            <a:r>
              <a:rPr sz="1550" b="1" spc="210" dirty="0"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Rule-based</a:t>
            </a:r>
            <a:r>
              <a:rPr sz="1550" spc="1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chatbots</a:t>
            </a:r>
            <a:r>
              <a:rPr sz="1550" spc="1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1A1A1A"/>
                </a:solidFill>
                <a:latin typeface="Times New Roman"/>
                <a:cs typeface="Times New Roman"/>
              </a:rPr>
              <a:t>fail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r>
              <a:rPr sz="1550" spc="18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handle</a:t>
            </a:r>
            <a:r>
              <a:rPr sz="1550" spc="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complex</a:t>
            </a:r>
            <a:r>
              <a:rPr lang="en-US" sz="155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tickets,</a:t>
            </a:r>
            <a:r>
              <a:rPr sz="1550" spc="2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unstructured</a:t>
            </a:r>
            <a:r>
              <a:rPr sz="1550" spc="18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user</a:t>
            </a:r>
            <a:r>
              <a:rPr sz="1550" spc="13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text,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or</a:t>
            </a:r>
            <a:r>
              <a:rPr sz="1550" spc="12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multi-step</a:t>
            </a:r>
            <a:r>
              <a:rPr sz="1550" spc="1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logic.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3970" marR="580390" algn="just">
              <a:lnSpc>
                <a:spcPct val="103000"/>
              </a:lnSpc>
              <a:spcBef>
                <a:spcPts val="5"/>
              </a:spcBef>
            </a:pPr>
            <a:r>
              <a:rPr sz="1550" b="1" dirty="0">
                <a:latin typeface="Times New Roman"/>
                <a:cs typeface="Times New Roman"/>
              </a:rPr>
              <a:t>Human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Bottleneck:</a:t>
            </a:r>
            <a:r>
              <a:rPr sz="1550" b="1" spc="135" dirty="0"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Tier-1</a:t>
            </a:r>
            <a:r>
              <a:rPr sz="1550" spc="16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service</a:t>
            </a:r>
            <a:r>
              <a:rPr sz="1550" spc="1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desks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suffer</a:t>
            </a:r>
            <a:r>
              <a:rPr sz="1550" spc="19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from</a:t>
            </a:r>
            <a:r>
              <a:rPr sz="1550" spc="16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manualtriaging,</a:t>
            </a:r>
            <a:r>
              <a:rPr sz="1550" spc="17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causing</a:t>
            </a:r>
            <a:r>
              <a:rPr sz="1550" spc="1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1A1A1A"/>
                </a:solidFill>
                <a:latin typeface="Times New Roman"/>
                <a:cs typeface="Times New Roman"/>
              </a:rPr>
              <a:t>high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costs</a:t>
            </a:r>
            <a:r>
              <a:rPr sz="1550" spc="7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sz="1550" spc="12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delayed</a:t>
            </a:r>
            <a:r>
              <a:rPr sz="1550" spc="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recoveries.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64769" marR="353695">
              <a:lnSpc>
                <a:spcPct val="103000"/>
              </a:lnSpc>
            </a:pPr>
            <a:r>
              <a:rPr sz="1550" b="1" dirty="0">
                <a:latin typeface="Times New Roman"/>
                <a:cs typeface="Times New Roman"/>
              </a:rPr>
              <a:t>LAMs</a:t>
            </a:r>
            <a:r>
              <a:rPr sz="1550" b="1" spc="5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as</a:t>
            </a:r>
            <a:r>
              <a:rPr sz="1550" b="1" spc="14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</a:t>
            </a:r>
            <a:r>
              <a:rPr sz="1550" b="1" spc="11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Solution:</a:t>
            </a:r>
            <a:r>
              <a:rPr sz="1550" b="1" spc="70" dirty="0"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Large</a:t>
            </a:r>
            <a:r>
              <a:rPr sz="1550" spc="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Action</a:t>
            </a:r>
            <a:r>
              <a:rPr sz="1550" spc="11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Models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translate</a:t>
            </a:r>
            <a:r>
              <a:rPr sz="1550" spc="22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natural</a:t>
            </a:r>
            <a:r>
              <a:rPr sz="1550" spc="1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languageintent</a:t>
            </a:r>
            <a:r>
              <a:rPr sz="1550" spc="2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into</a:t>
            </a:r>
            <a:r>
              <a:rPr sz="1550" spc="-1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1A1A1A"/>
                </a:solidFill>
                <a:latin typeface="Times New Roman"/>
                <a:cs typeface="Times New Roman"/>
              </a:rPr>
              <a:t>API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calls,</a:t>
            </a:r>
            <a:r>
              <a:rPr sz="1550" spc="14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workflows,</a:t>
            </a:r>
            <a:r>
              <a:rPr sz="1550" spc="14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sz="1550" spc="125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A1A1A"/>
                </a:solidFill>
                <a:latin typeface="Times New Roman"/>
                <a:cs typeface="Times New Roman"/>
              </a:rPr>
              <a:t>database</a:t>
            </a:r>
            <a:r>
              <a:rPr sz="1550" spc="14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Times New Roman"/>
                <a:cs typeface="Times New Roman"/>
              </a:rPr>
              <a:t>actions.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936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rgbClr val="0E172A"/>
                </a:solidFill>
              </a:rPr>
              <a:t>INTRODUCTION</a:t>
            </a:r>
          </a:p>
        </p:txBody>
      </p:sp>
      <p:pic>
        <p:nvPicPr>
          <p:cNvPr id="5" name="object 5" descr="Agentforce Demos - Salesforce I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866900"/>
            <a:ext cx="510540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044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800" y="1319275"/>
            <a:ext cx="6962775" cy="866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R="377825" algn="ctr">
              <a:lnSpc>
                <a:spcPct val="100000"/>
              </a:lnSpc>
              <a:spcBef>
                <a:spcPts val="285"/>
              </a:spcBef>
            </a:pPr>
            <a:r>
              <a:rPr sz="1800" b="1" dirty="0">
                <a:latin typeface="Arial"/>
                <a:cs typeface="Arial"/>
              </a:rPr>
              <a:t>User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Intent</a:t>
            </a:r>
            <a:endParaRPr sz="180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415"/>
              </a:spcBef>
            </a:pPr>
            <a:r>
              <a:rPr sz="1400" dirty="0">
                <a:latin typeface="Times New Roman"/>
                <a:cs typeface="Times New Roman"/>
              </a:rPr>
              <a:t>Listens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across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slack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email. Convert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unstructured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text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semantic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embeddings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9326" y="2576576"/>
            <a:ext cx="6343650" cy="857250"/>
          </a:xfrm>
          <a:custGeom>
            <a:avLst/>
            <a:gdLst/>
            <a:ahLst/>
            <a:cxnLst/>
            <a:rect l="l" t="t" r="r" b="b"/>
            <a:pathLst>
              <a:path w="6343650" h="857250">
                <a:moveTo>
                  <a:pt x="0" y="857250"/>
                </a:moveTo>
                <a:lnTo>
                  <a:pt x="6343650" y="857250"/>
                </a:lnTo>
                <a:lnTo>
                  <a:pt x="6343650" y="0"/>
                </a:lnTo>
                <a:lnTo>
                  <a:pt x="0" y="0"/>
                </a:lnTo>
                <a:lnTo>
                  <a:pt x="0" y="857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54783" y="2598102"/>
            <a:ext cx="5874385" cy="51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2240"/>
                </a:solidFill>
                <a:latin typeface="Times New Roman"/>
                <a:cs typeface="Times New Roman"/>
              </a:rPr>
              <a:t>Reasoning</a:t>
            </a:r>
            <a:r>
              <a:rPr sz="1800" b="1" spc="-2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Engine</a:t>
            </a:r>
            <a:r>
              <a:rPr lang="en-US" sz="180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(Agentforce)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Times New Roman"/>
                <a:cs typeface="Times New Roman"/>
              </a:rPr>
              <a:t>Atlas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ReAct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cycle: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→Act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Observe.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Dynamicallyplans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resolution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steps.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4550" y="3795776"/>
            <a:ext cx="6553200" cy="838200"/>
          </a:xfrm>
          <a:custGeom>
            <a:avLst/>
            <a:gdLst/>
            <a:ahLst/>
            <a:cxnLst/>
            <a:rect l="l" t="t" r="r" b="b"/>
            <a:pathLst>
              <a:path w="6553200" h="838200">
                <a:moveTo>
                  <a:pt x="0" y="838200"/>
                </a:moveTo>
                <a:lnTo>
                  <a:pt x="6553200" y="838200"/>
                </a:lnTo>
                <a:lnTo>
                  <a:pt x="65532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9180" y="3831907"/>
            <a:ext cx="6116320" cy="481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A2240"/>
                </a:solidFill>
                <a:latin typeface="Times New Roman"/>
                <a:cs typeface="Times New Roman"/>
              </a:rPr>
              <a:t>Data</a:t>
            </a:r>
            <a:r>
              <a:rPr sz="1550" b="1" spc="14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A2240"/>
                </a:solidFill>
                <a:latin typeface="Times New Roman"/>
                <a:cs typeface="Times New Roman"/>
              </a:rPr>
              <a:t>Guardrails</a:t>
            </a:r>
            <a:r>
              <a:rPr sz="1550" b="1" spc="17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A2240"/>
                </a:solidFill>
                <a:latin typeface="Times New Roman"/>
                <a:cs typeface="Times New Roman"/>
              </a:rPr>
              <a:t>(Einstein</a:t>
            </a:r>
            <a:r>
              <a:rPr sz="1550" b="1" spc="25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A2240"/>
                </a:solidFill>
                <a:latin typeface="Times New Roman"/>
                <a:cs typeface="Times New Roman"/>
              </a:rPr>
              <a:t>Trust</a:t>
            </a:r>
            <a:r>
              <a:rPr sz="1550" b="1" spc="95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Layer)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Times New Roman"/>
                <a:cs typeface="Times New Roman"/>
              </a:rPr>
              <a:t>RAG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pipeline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grounds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agent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inverified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enterprise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data.Prevents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unauthorized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3575" y="4995862"/>
            <a:ext cx="6734175" cy="8667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09"/>
              </a:spcBef>
            </a:pPr>
            <a:r>
              <a:rPr sz="1800" b="1" dirty="0">
                <a:solidFill>
                  <a:srgbClr val="1A2240"/>
                </a:solidFill>
                <a:latin typeface="Times New Roman"/>
                <a:cs typeface="Times New Roman"/>
              </a:rPr>
              <a:t>Action</a:t>
            </a:r>
            <a:r>
              <a:rPr sz="1800" b="1" spc="-4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A2240"/>
                </a:solidFill>
                <a:latin typeface="Times New Roman"/>
                <a:cs typeface="Times New Roman"/>
              </a:rPr>
              <a:t>Execution</a:t>
            </a:r>
            <a:r>
              <a:rPr sz="1800" b="1" spc="35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A2240"/>
                </a:solidFill>
                <a:latin typeface="Times New Roman"/>
                <a:cs typeface="Times New Roman"/>
              </a:rPr>
              <a:t>(Apex</a:t>
            </a:r>
            <a:r>
              <a:rPr sz="180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A2240"/>
                </a:solidFill>
                <a:latin typeface="Times New Roman"/>
                <a:cs typeface="Times New Roman"/>
              </a:rPr>
              <a:t>/</a:t>
            </a:r>
            <a:r>
              <a:rPr sz="1800" b="1" spc="10" dirty="0">
                <a:solidFill>
                  <a:srgbClr val="1A22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A2240"/>
                </a:solidFill>
                <a:latin typeface="Times New Roman"/>
                <a:cs typeface="Times New Roman"/>
              </a:rPr>
              <a:t>Flows)</a:t>
            </a:r>
            <a:endParaRPr sz="18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latin typeface="Times New Roman"/>
                <a:cs typeface="Times New Roman"/>
              </a:rPr>
              <a:t>Executes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via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Apex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triggers,Salesforce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Flows,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externalREST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endpoints.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58436" y="2176525"/>
            <a:ext cx="85725" cy="2818765"/>
          </a:xfrm>
          <a:custGeom>
            <a:avLst/>
            <a:gdLst/>
            <a:ahLst/>
            <a:cxnLst/>
            <a:rect l="l" t="t" r="r" b="b"/>
            <a:pathLst>
              <a:path w="85725" h="2818765">
                <a:moveTo>
                  <a:pt x="76136" y="2742057"/>
                </a:moveTo>
                <a:lnTo>
                  <a:pt x="44411" y="2742057"/>
                </a:lnTo>
                <a:lnTo>
                  <a:pt x="43688" y="2447925"/>
                </a:lnTo>
                <a:lnTo>
                  <a:pt x="30988" y="2447925"/>
                </a:lnTo>
                <a:lnTo>
                  <a:pt x="31711" y="2742057"/>
                </a:lnTo>
                <a:lnTo>
                  <a:pt x="0" y="2742057"/>
                </a:lnTo>
                <a:lnTo>
                  <a:pt x="38227" y="2818257"/>
                </a:lnTo>
                <a:lnTo>
                  <a:pt x="69811" y="2754757"/>
                </a:lnTo>
                <a:lnTo>
                  <a:pt x="76136" y="2742057"/>
                </a:lnTo>
                <a:close/>
              </a:path>
              <a:path w="85725" h="2818765">
                <a:moveTo>
                  <a:pt x="76136" y="1533398"/>
                </a:moveTo>
                <a:lnTo>
                  <a:pt x="44411" y="1533398"/>
                </a:lnTo>
                <a:lnTo>
                  <a:pt x="43688" y="1257300"/>
                </a:lnTo>
                <a:lnTo>
                  <a:pt x="30988" y="1257300"/>
                </a:lnTo>
                <a:lnTo>
                  <a:pt x="31711" y="1533398"/>
                </a:lnTo>
                <a:lnTo>
                  <a:pt x="0" y="1533398"/>
                </a:lnTo>
                <a:lnTo>
                  <a:pt x="38227" y="1609471"/>
                </a:lnTo>
                <a:lnTo>
                  <a:pt x="69862" y="1545971"/>
                </a:lnTo>
                <a:lnTo>
                  <a:pt x="76136" y="1533398"/>
                </a:lnTo>
                <a:close/>
              </a:path>
              <a:path w="85725" h="2818765">
                <a:moveTo>
                  <a:pt x="85661" y="294132"/>
                </a:moveTo>
                <a:lnTo>
                  <a:pt x="53936" y="294132"/>
                </a:lnTo>
                <a:lnTo>
                  <a:pt x="53213" y="0"/>
                </a:lnTo>
                <a:lnTo>
                  <a:pt x="40513" y="0"/>
                </a:lnTo>
                <a:lnTo>
                  <a:pt x="41236" y="294132"/>
                </a:lnTo>
                <a:lnTo>
                  <a:pt x="9525" y="294132"/>
                </a:lnTo>
                <a:lnTo>
                  <a:pt x="47752" y="370332"/>
                </a:lnTo>
                <a:lnTo>
                  <a:pt x="79336" y="306832"/>
                </a:lnTo>
                <a:lnTo>
                  <a:pt x="85661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A blue and white robot with two eye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2781300"/>
            <a:ext cx="20383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88595" marR="5080">
              <a:lnSpc>
                <a:spcPts val="3000"/>
              </a:lnSpc>
              <a:spcBef>
                <a:spcPts val="475"/>
              </a:spcBef>
            </a:pPr>
            <a:r>
              <a:rPr dirty="0"/>
              <a:t>TOOLS</a:t>
            </a:r>
            <a:r>
              <a:rPr spc="55" dirty="0"/>
              <a:t> </a:t>
            </a:r>
            <a:r>
              <a:rPr dirty="0"/>
              <a:t>&amp;</a:t>
            </a:r>
            <a:r>
              <a:rPr spc="35" dirty="0"/>
              <a:t> </a:t>
            </a:r>
            <a:r>
              <a:rPr spc="-10" dirty="0"/>
              <a:t>TECHNOLOGY STACK</a:t>
            </a:r>
          </a:p>
        </p:txBody>
      </p:sp>
      <p:sp>
        <p:nvSpPr>
          <p:cNvPr id="3" name="object 3"/>
          <p:cNvSpPr/>
          <p:nvPr/>
        </p:nvSpPr>
        <p:spPr>
          <a:xfrm>
            <a:off x="404812" y="1786001"/>
            <a:ext cx="4171950" cy="828675"/>
          </a:xfrm>
          <a:custGeom>
            <a:avLst/>
            <a:gdLst/>
            <a:ahLst/>
            <a:cxnLst/>
            <a:rect l="l" t="t" r="r" b="b"/>
            <a:pathLst>
              <a:path w="4171950" h="828675">
                <a:moveTo>
                  <a:pt x="0" y="828675"/>
                </a:moveTo>
                <a:lnTo>
                  <a:pt x="4171950" y="828675"/>
                </a:lnTo>
                <a:lnTo>
                  <a:pt x="4171950" y="0"/>
                </a:lnTo>
                <a:lnTo>
                  <a:pt x="0" y="0"/>
                </a:lnTo>
                <a:lnTo>
                  <a:pt x="0" y="828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8369" y="1809432"/>
            <a:ext cx="3256279" cy="758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3495" algn="ctr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Arial"/>
                <a:cs typeface="Arial"/>
              </a:rPr>
              <a:t>Salesforce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Agentforce</a:t>
            </a:r>
            <a:endParaRPr sz="2000" dirty="0">
              <a:latin typeface="Arial"/>
              <a:cs typeface="Arial"/>
            </a:endParaRPr>
          </a:p>
          <a:p>
            <a:pPr marL="12700" marR="5080" algn="ctr">
              <a:lnSpc>
                <a:spcPts val="1650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Primary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orchestration </a:t>
            </a:r>
            <a:r>
              <a:rPr sz="1400" dirty="0">
                <a:latin typeface="Times New Roman"/>
                <a:cs typeface="Times New Roman"/>
              </a:rPr>
              <a:t>engine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10" dirty="0">
                <a:latin typeface="Times New Roman"/>
                <a:cs typeface="Times New Roman"/>
              </a:rPr>
              <a:t>autonomous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andNLP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Large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Models.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38751" y="1786001"/>
            <a:ext cx="4162425" cy="828675"/>
          </a:xfrm>
          <a:custGeom>
            <a:avLst/>
            <a:gdLst/>
            <a:ahLst/>
            <a:cxnLst/>
            <a:rect l="l" t="t" r="r" b="b"/>
            <a:pathLst>
              <a:path w="4162425" h="828675">
                <a:moveTo>
                  <a:pt x="0" y="828675"/>
                </a:moveTo>
                <a:lnTo>
                  <a:pt x="4162425" y="828675"/>
                </a:lnTo>
                <a:lnTo>
                  <a:pt x="4162425" y="0"/>
                </a:lnTo>
                <a:lnTo>
                  <a:pt x="0" y="0"/>
                </a:lnTo>
                <a:lnTo>
                  <a:pt x="0" y="828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58434" y="1809432"/>
            <a:ext cx="3333115" cy="758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Salesforce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Cloud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ts val="1650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Ingests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 </a:t>
            </a:r>
            <a:r>
              <a:rPr sz="1400" spc="-20" dirty="0">
                <a:latin typeface="Times New Roman"/>
                <a:cs typeface="Times New Roman"/>
              </a:rPr>
              <a:t>telemetry,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 streaming,</a:t>
            </a:r>
            <a:r>
              <a:rPr sz="1400" spc="-25" dirty="0">
                <a:latin typeface="Times New Roman"/>
                <a:cs typeface="Times New Roman"/>
              </a:rPr>
              <a:t> and </a:t>
            </a:r>
            <a:r>
              <a:rPr sz="1400" dirty="0">
                <a:latin typeface="Times New Roman"/>
                <a:cs typeface="Times New Roman"/>
              </a:rPr>
              <a:t>historical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case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ground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agent</a:t>
            </a:r>
            <a:r>
              <a:rPr lang="en-US" sz="1400" spc="-20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2412" y="4605337"/>
            <a:ext cx="4162425" cy="1104900"/>
          </a:xfrm>
          <a:custGeom>
            <a:avLst/>
            <a:gdLst/>
            <a:ahLst/>
            <a:cxnLst/>
            <a:rect l="l" t="t" r="r" b="b"/>
            <a:pathLst>
              <a:path w="4162425" h="1104900">
                <a:moveTo>
                  <a:pt x="0" y="1104900"/>
                </a:moveTo>
                <a:lnTo>
                  <a:pt x="4162425" y="1104900"/>
                </a:lnTo>
                <a:lnTo>
                  <a:pt x="4162425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8005" y="4567914"/>
            <a:ext cx="3218815" cy="10985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648335">
              <a:lnSpc>
                <a:spcPct val="100000"/>
              </a:lnSpc>
              <a:spcBef>
                <a:spcPts val="625"/>
              </a:spcBef>
            </a:pPr>
            <a:r>
              <a:rPr sz="2000" b="1" dirty="0">
                <a:latin typeface="Times New Roman"/>
                <a:cs typeface="Times New Roman"/>
              </a:rPr>
              <a:t>Apex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Salesforce</a:t>
            </a:r>
            <a:endParaRPr sz="2000">
              <a:latin typeface="Times New Roman"/>
              <a:cs typeface="Times New Roman"/>
            </a:endParaRPr>
          </a:p>
          <a:p>
            <a:pPr marL="12700" marR="5080" indent="38100">
              <a:lnSpc>
                <a:spcPct val="102800"/>
              </a:lnSpc>
              <a:spcBef>
                <a:spcPts val="335"/>
              </a:spcBef>
            </a:pPr>
            <a:r>
              <a:rPr sz="1400" dirty="0">
                <a:latin typeface="Times New Roman"/>
                <a:cs typeface="Times New Roman"/>
              </a:rPr>
              <a:t>Builds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optimized,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procedural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logic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exposed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Agentforce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callable </a:t>
            </a:r>
            <a:r>
              <a:rPr sz="1400" dirty="0">
                <a:latin typeface="Times New Roman"/>
                <a:cs typeface="Times New Roman"/>
              </a:rPr>
              <a:t>@Invocablemethod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38751" y="4605337"/>
            <a:ext cx="4162425" cy="1104900"/>
          </a:xfrm>
          <a:custGeom>
            <a:avLst/>
            <a:gdLst/>
            <a:ahLst/>
            <a:cxnLst/>
            <a:rect l="l" t="t" r="r" b="b"/>
            <a:pathLst>
              <a:path w="4162425" h="1104900">
                <a:moveTo>
                  <a:pt x="0" y="1104900"/>
                </a:moveTo>
                <a:lnTo>
                  <a:pt x="4162425" y="1104900"/>
                </a:lnTo>
                <a:lnTo>
                  <a:pt x="4162425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70728" y="4567914"/>
            <a:ext cx="3207385" cy="10985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556260">
              <a:lnSpc>
                <a:spcPct val="100000"/>
              </a:lnSpc>
              <a:spcBef>
                <a:spcPts val="625"/>
              </a:spcBef>
            </a:pPr>
            <a:r>
              <a:rPr sz="2000" b="1" dirty="0">
                <a:latin typeface="Times New Roman"/>
                <a:cs typeface="Times New Roman"/>
              </a:rPr>
              <a:t>Salesforce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Flows</a:t>
            </a:r>
            <a:endParaRPr sz="2000">
              <a:latin typeface="Times New Roman"/>
              <a:cs typeface="Times New Roman"/>
            </a:endParaRPr>
          </a:p>
          <a:p>
            <a:pPr marL="66675" marR="5080" indent="-54610">
              <a:lnSpc>
                <a:spcPct val="102800"/>
              </a:lnSpc>
              <a:spcBef>
                <a:spcPts val="335"/>
              </a:spcBef>
            </a:pPr>
            <a:r>
              <a:rPr sz="1400" spc="-20" dirty="0">
                <a:latin typeface="Times New Roman"/>
                <a:cs typeface="Times New Roman"/>
              </a:rPr>
              <a:t>Visual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declarative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automation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workflows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manupulation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standard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record routing.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1" name="object 11" descr="A white robot with blue round fac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425" y="2371725"/>
            <a:ext cx="3876675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216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5595" y="1033780"/>
            <a:ext cx="7756525" cy="44526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267970" algn="l"/>
              </a:tabLst>
            </a:pPr>
            <a:r>
              <a:rPr sz="1800" b="1" spc="-10" dirty="0">
                <a:latin typeface="Arial"/>
                <a:cs typeface="Arial"/>
              </a:rPr>
              <a:t>Topic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structuring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:-</a:t>
            </a:r>
            <a:endParaRPr sz="1800">
              <a:latin typeface="Arial"/>
              <a:cs typeface="Arial"/>
            </a:endParaRPr>
          </a:p>
          <a:p>
            <a:pPr marL="368300" marR="5080" indent="-31750">
              <a:lnSpc>
                <a:spcPct val="107300"/>
              </a:lnSpc>
              <a:spcBef>
                <a:spcPts val="295"/>
              </a:spcBef>
            </a:pPr>
            <a:r>
              <a:rPr sz="1400" dirty="0">
                <a:latin typeface="Times New Roman"/>
                <a:cs typeface="Times New Roman"/>
              </a:rPr>
              <a:t>ITSM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Remediation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topic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defined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Agentforce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Builder.</a:t>
            </a:r>
            <a:r>
              <a:rPr sz="1400" spc="-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Atlas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semantically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evaluates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query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dynamically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selects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appropriate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4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buAutoNum type="arabicPeriod" startAt="2"/>
              <a:tabLst>
                <a:tab pos="259079" algn="l"/>
              </a:tabLst>
            </a:pPr>
            <a:r>
              <a:rPr sz="1800" b="1" dirty="0">
                <a:latin typeface="Arial"/>
                <a:cs typeface="Arial"/>
              </a:rPr>
              <a:t>Action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Config via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Apex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@Invocablemethod </a:t>
            </a:r>
            <a:r>
              <a:rPr sz="1800" b="1" spc="-25" dirty="0">
                <a:latin typeface="Arial"/>
                <a:cs typeface="Arial"/>
              </a:rPr>
              <a:t>:-</a:t>
            </a:r>
            <a:endParaRPr sz="1800">
              <a:latin typeface="Arial"/>
              <a:cs typeface="Arial"/>
            </a:endParaRPr>
          </a:p>
          <a:p>
            <a:pPr marL="279400" marR="396240" indent="-10160">
              <a:lnSpc>
                <a:spcPts val="1650"/>
              </a:lnSpc>
              <a:spcBef>
                <a:spcPts val="120"/>
              </a:spcBef>
            </a:pPr>
            <a:r>
              <a:rPr sz="1400" dirty="0">
                <a:latin typeface="Times New Roman"/>
                <a:cs typeface="Times New Roman"/>
              </a:rPr>
              <a:t>Apex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annotated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@InvocableMethod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expose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backendlogic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Agent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Actions.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Label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description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metadata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guide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theAtlas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engine's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decision-making.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4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buAutoNum type="arabicPeriod" startAt="3"/>
              <a:tabLst>
                <a:tab pos="267970" algn="l"/>
              </a:tabLst>
            </a:pPr>
            <a:r>
              <a:rPr sz="1800" b="1" dirty="0">
                <a:latin typeface="Arial"/>
                <a:cs typeface="Arial"/>
              </a:rPr>
              <a:t>Rag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Context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Grounding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:-</a:t>
            </a:r>
            <a:endParaRPr sz="1800">
              <a:latin typeface="Arial"/>
              <a:cs typeface="Arial"/>
            </a:endParaRPr>
          </a:p>
          <a:p>
            <a:pPr marL="279400" marR="95885">
              <a:lnSpc>
                <a:spcPts val="1650"/>
              </a:lnSpc>
              <a:spcBef>
                <a:spcPts val="125"/>
              </a:spcBef>
            </a:pP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telemetry,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historical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asset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profiles,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caserecords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injected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prompt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payload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via </a:t>
            </a:r>
            <a:r>
              <a:rPr sz="1400" dirty="0">
                <a:latin typeface="Times New Roman"/>
                <a:cs typeface="Times New Roman"/>
              </a:rPr>
              <a:t>Salesforce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Cloudbefore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invocation.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4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buAutoNum type="arabicPeriod" startAt="4"/>
              <a:tabLst>
                <a:tab pos="267970" algn="l"/>
              </a:tabLst>
            </a:pPr>
            <a:r>
              <a:rPr sz="1800" b="1" dirty="0">
                <a:latin typeface="Arial"/>
                <a:cs typeface="Arial"/>
              </a:rPr>
              <a:t>Security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Guardrails</a:t>
            </a:r>
            <a:endParaRPr sz="1800">
              <a:latin typeface="Arial"/>
              <a:cs typeface="Arial"/>
            </a:endParaRPr>
          </a:p>
          <a:p>
            <a:pPr marL="279400" marR="281940">
              <a:lnSpc>
                <a:spcPts val="1650"/>
              </a:lnSpc>
              <a:spcBef>
                <a:spcPts val="120"/>
              </a:spcBef>
            </a:pPr>
            <a:r>
              <a:rPr sz="1400" spc="-20" dirty="0">
                <a:latin typeface="Times New Roman"/>
                <a:cs typeface="Times New Roman"/>
              </a:rPr>
              <a:t>User-</a:t>
            </a:r>
            <a:r>
              <a:rPr sz="1400" dirty="0">
                <a:latin typeface="Times New Roman"/>
                <a:cs typeface="Times New Roman"/>
              </a:rPr>
              <a:t>mode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execution,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conditional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human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escalation </a:t>
            </a:r>
            <a:r>
              <a:rPr sz="1400" spc="-10" dirty="0">
                <a:latin typeface="Times New Roman"/>
                <a:cs typeface="Times New Roman"/>
              </a:rPr>
              <a:t>onhigh-</a:t>
            </a:r>
            <a:r>
              <a:rPr sz="1400" dirty="0">
                <a:latin typeface="Times New Roman"/>
                <a:cs typeface="Times New Roman"/>
              </a:rPr>
              <a:t>severity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outages,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explicit </a:t>
            </a:r>
            <a:r>
              <a:rPr sz="1400" dirty="0">
                <a:latin typeface="Times New Roman"/>
                <a:cs typeface="Times New Roman"/>
              </a:rPr>
              <a:t>negative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constraints</a:t>
            </a:r>
            <a:r>
              <a:rPr sz="1400" spc="-10" dirty="0">
                <a:latin typeface="Times New Roman"/>
                <a:cs typeface="Times New Roman"/>
              </a:rPr>
              <a:t> preventingnull-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10" dirty="0">
                <a:latin typeface="Times New Roman"/>
                <a:cs typeface="Times New Roman"/>
              </a:rPr>
              <a:t> hallucinations.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216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30"/>
              </a:spcBef>
            </a:pPr>
            <a:r>
              <a:rPr dirty="0"/>
              <a:t>MAJOR</a:t>
            </a:r>
            <a:r>
              <a:rPr spc="105" dirty="0"/>
              <a:t> </a:t>
            </a:r>
            <a:r>
              <a:rPr spc="-10" dirty="0"/>
              <a:t>FINDINGS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695" y="1844675"/>
            <a:ext cx="8261350" cy="310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b="1" dirty="0">
                <a:latin typeface="Arial"/>
                <a:cs typeface="Arial"/>
              </a:rPr>
              <a:t>91%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Identification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Accuracy:-</a:t>
            </a:r>
            <a:endParaRPr sz="1800">
              <a:latin typeface="Arial"/>
              <a:cs typeface="Arial"/>
            </a:endParaRPr>
          </a:p>
          <a:p>
            <a:pPr marL="298450" marR="335915" indent="38100">
              <a:lnSpc>
                <a:spcPts val="1950"/>
              </a:lnSpc>
              <a:spcBef>
                <a:spcPts val="35"/>
              </a:spcBef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Agentforce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achieved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highly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accurate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semantic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intent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recognition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statistically </a:t>
            </a:r>
            <a:r>
              <a:rPr sz="1550" dirty="0">
                <a:latin typeface="Times New Roman"/>
                <a:cs typeface="Times New Roman"/>
              </a:rPr>
              <a:t>significant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performance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(p</a:t>
            </a:r>
            <a:r>
              <a:rPr sz="1550" i="1" spc="16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&lt;</a:t>
            </a:r>
            <a:r>
              <a:rPr sz="1550" i="1" spc="190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Times New Roman"/>
                <a:cs typeface="Times New Roman"/>
              </a:rPr>
              <a:t>0.001)</a:t>
            </a:r>
            <a:r>
              <a:rPr sz="1550" spc="-10" dirty="0"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74%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Resolution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:-</a:t>
            </a:r>
            <a:endParaRPr sz="20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5"/>
              </a:spcBef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independently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resolved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most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ITSM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requests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dynamic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reasoning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automated</a:t>
            </a:r>
            <a:endParaRPr sz="15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Times New Roman"/>
                <a:cs typeface="Times New Roman"/>
              </a:rPr>
              <a:t>execution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(</a:t>
            </a:r>
            <a:r>
              <a:rPr sz="1550" i="1" dirty="0">
                <a:latin typeface="Arial"/>
                <a:cs typeface="Arial"/>
              </a:rPr>
              <a:t>±</a:t>
            </a:r>
            <a:r>
              <a:rPr sz="1550" i="1" dirty="0">
                <a:latin typeface="Times New Roman"/>
                <a:cs typeface="Times New Roman"/>
              </a:rPr>
              <a:t>3.2%</a:t>
            </a:r>
            <a:r>
              <a:rPr sz="1550" i="1" spc="185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Times New Roman"/>
                <a:cs typeface="Times New Roman"/>
              </a:rPr>
              <a:t>variance)</a:t>
            </a:r>
            <a:r>
              <a:rPr sz="1550" spc="-10" dirty="0"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65%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First-</a:t>
            </a:r>
            <a:r>
              <a:rPr sz="2000" b="1" dirty="0">
                <a:latin typeface="Times New Roman"/>
                <a:cs typeface="Times New Roman"/>
              </a:rPr>
              <a:t>Contact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Resolution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:-</a:t>
            </a:r>
            <a:endParaRPr sz="20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75"/>
              </a:spcBef>
            </a:pPr>
            <a:r>
              <a:rPr sz="1550" dirty="0">
                <a:latin typeface="Times New Roman"/>
                <a:cs typeface="Times New Roman"/>
              </a:rPr>
              <a:t>Routine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Tier-</a:t>
            </a:r>
            <a:r>
              <a:rPr sz="1550" dirty="0">
                <a:latin typeface="Times New Roman"/>
                <a:cs typeface="Times New Roman"/>
              </a:rPr>
              <a:t>1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support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queries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were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successfully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resolved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without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human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intervention.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216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100" dirty="0"/>
              <a:t> </a:t>
            </a:r>
            <a:r>
              <a:rPr dirty="0"/>
              <a:t>&amp;</a:t>
            </a:r>
            <a:r>
              <a:rPr spc="130" dirty="0"/>
              <a:t> </a:t>
            </a:r>
            <a:r>
              <a:rPr dirty="0"/>
              <a:t>Fututre</a:t>
            </a:r>
            <a:r>
              <a:rPr spc="13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211" y="1719198"/>
            <a:ext cx="4105275" cy="362297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R="31115" algn="ctr">
              <a:lnSpc>
                <a:spcPct val="100000"/>
              </a:lnSpc>
              <a:spcBef>
                <a:spcPts val="295"/>
              </a:spcBef>
            </a:pP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81915" marR="393065">
              <a:lnSpc>
                <a:spcPct val="100600"/>
              </a:lnSpc>
              <a:tabLst>
                <a:tab pos="25400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pPr marL="252095" marR="393065" indent="-170180" algn="l">
              <a:lnSpc>
                <a:spcPct val="100600"/>
              </a:lnSpc>
              <a:buFont typeface="Arial MT"/>
              <a:buChar char="•"/>
              <a:tabLst>
                <a:tab pos="25400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Integrating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LAMs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via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Salesforce</a:t>
            </a:r>
            <a:r>
              <a:rPr lang="en-US" sz="1400" spc="-60" dirty="0">
                <a:latin typeface="Times New Roman"/>
                <a:cs typeface="Times New Roman"/>
              </a:rPr>
              <a:t> </a:t>
            </a:r>
            <a:r>
              <a:rPr lang="en-US" sz="1400" dirty="0" err="1">
                <a:latin typeface="Times New Roman"/>
                <a:cs typeface="Times New Roman"/>
              </a:rPr>
              <a:t>Agentforce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transforms </a:t>
            </a:r>
            <a:r>
              <a:rPr lang="en-US" sz="1400" dirty="0">
                <a:latin typeface="Times New Roman"/>
                <a:cs typeface="Times New Roman"/>
              </a:rPr>
              <a:t>IT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service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desks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from</a:t>
            </a:r>
            <a:r>
              <a:rPr lang="en-US" sz="1400" spc="2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reactive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queues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into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proactive, </a:t>
            </a:r>
            <a:r>
              <a:rPr lang="en-US" sz="1400" dirty="0">
                <a:latin typeface="Times New Roman"/>
                <a:cs typeface="Times New Roman"/>
              </a:rPr>
              <a:t>automated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environments.</a:t>
            </a:r>
          </a:p>
          <a:p>
            <a:pPr marL="252095" marR="393065" indent="-170180" algn="l">
              <a:lnSpc>
                <a:spcPct val="100600"/>
              </a:lnSpc>
              <a:buFont typeface="Arial MT"/>
              <a:buChar char="•"/>
              <a:tabLst>
                <a:tab pos="254000" algn="l"/>
              </a:tabLst>
            </a:pPr>
            <a:endParaRPr lang="en-US" sz="1400" spc="-10" dirty="0">
              <a:latin typeface="Times New Roman"/>
              <a:cs typeface="Times New Roman"/>
            </a:endParaRPr>
          </a:p>
          <a:p>
            <a:pPr marL="252095" marR="393065" indent="-170180" algn="l">
              <a:lnSpc>
                <a:spcPct val="100600"/>
              </a:lnSpc>
              <a:buFont typeface="Arial MT"/>
              <a:buChar char="•"/>
              <a:tabLst>
                <a:tab pos="254000" algn="l"/>
              </a:tabLst>
            </a:pPr>
            <a:r>
              <a:rPr lang="en-US" sz="1400" dirty="0">
                <a:latin typeface="Times New Roman"/>
                <a:cs typeface="Times New Roman"/>
              </a:rPr>
              <a:t>Anchoring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conversational</a:t>
            </a:r>
            <a:r>
              <a:rPr lang="en-US" sz="1400" spc="-6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AI</a:t>
            </a:r>
            <a:r>
              <a:rPr lang="en-US" sz="1400" spc="-7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to </a:t>
            </a:r>
            <a:r>
              <a:rPr lang="en-US" sz="1400" spc="-10" dirty="0">
                <a:latin typeface="Times New Roman"/>
                <a:cs typeface="Times New Roman"/>
              </a:rPr>
              <a:t>explicit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execution  </a:t>
            </a:r>
            <a:r>
              <a:rPr lang="en-US" sz="1400" dirty="0">
                <a:latin typeface="Times New Roman"/>
                <a:cs typeface="Times New Roman"/>
              </a:rPr>
              <a:t>frameworks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(Apex/Flows)</a:t>
            </a:r>
            <a:r>
              <a:rPr lang="en-US" sz="1400" spc="-1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and</a:t>
            </a:r>
            <a:r>
              <a:rPr lang="en-US" sz="1400" spc="-2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strict</a:t>
            </a:r>
            <a:r>
              <a:rPr lang="en-US" sz="1400" spc="-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data</a:t>
            </a:r>
            <a:r>
              <a:rPr lang="en-US" sz="1400" spc="-20" dirty="0">
                <a:latin typeface="Times New Roman"/>
                <a:cs typeface="Times New Roman"/>
              </a:rPr>
              <a:t> </a:t>
            </a:r>
            <a:r>
              <a:rPr lang="en-US" sz="1400" spc="-10" dirty="0">
                <a:latin typeface="Times New Roman"/>
                <a:cs typeface="Times New Roman"/>
              </a:rPr>
              <a:t>parameters </a:t>
            </a:r>
            <a:r>
              <a:rPr lang="en-US" sz="1400" dirty="0">
                <a:latin typeface="Times New Roman"/>
                <a:cs typeface="Times New Roman"/>
              </a:rPr>
              <a:t>ensures</a:t>
            </a:r>
            <a:r>
              <a:rPr lang="en-US" sz="1400" spc="-3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safe</a:t>
            </a:r>
            <a:r>
              <a:rPr lang="en-US" sz="1400" spc="-3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operational</a:t>
            </a:r>
            <a:r>
              <a:rPr lang="en-US" sz="1400" spc="-45" dirty="0">
                <a:latin typeface="Times New Roman"/>
                <a:cs typeface="Times New Roman"/>
              </a:rPr>
              <a:t> </a:t>
            </a:r>
            <a:r>
              <a:rPr lang="en-US" sz="1400" spc="-10" dirty="0" err="1">
                <a:latin typeface="Times New Roman"/>
                <a:cs typeface="Times New Roman"/>
              </a:rPr>
              <a:t>behaviour</a:t>
            </a:r>
            <a:r>
              <a:rPr lang="en-US" sz="1400" spc="-1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52095" marR="182880" indent="-170180">
              <a:lnSpc>
                <a:spcPts val="1650"/>
              </a:lnSpc>
              <a:buFont typeface="Arial MT"/>
              <a:buChar char="•"/>
              <a:tabLst>
                <a:tab pos="254000" algn="l"/>
              </a:tabLst>
            </a:pPr>
            <a:r>
              <a:rPr sz="1400" spc="-25" dirty="0">
                <a:latin typeface="Times New Roman"/>
                <a:cs typeface="Times New Roman"/>
              </a:rPr>
              <a:t>Validated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framework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scalable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enterprise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automation</a:t>
            </a:r>
            <a:r>
              <a:rPr lang="en-US" sz="1400" spc="-10" dirty="0">
                <a:latin typeface="Times New Roman"/>
                <a:cs typeface="Times New Roman"/>
              </a:rPr>
              <a:t> s</a:t>
            </a:r>
            <a:r>
              <a:rPr sz="1400" dirty="0">
                <a:latin typeface="Times New Roman"/>
                <a:cs typeface="Times New Roman"/>
              </a:rPr>
              <a:t>ignaling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paradigm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shift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human–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collaboration.</a:t>
            </a:r>
            <a:endParaRPr lang="en-US" sz="1400" spc="-10" dirty="0">
              <a:latin typeface="Times New Roman"/>
              <a:cs typeface="Times New Roman"/>
            </a:endParaRPr>
          </a:p>
          <a:p>
            <a:pPr marL="252095" marR="182880" indent="-170180">
              <a:lnSpc>
                <a:spcPts val="1650"/>
              </a:lnSpc>
              <a:buFont typeface="Arial MT"/>
              <a:buChar char="•"/>
              <a:tabLst>
                <a:tab pos="254000" algn="l"/>
              </a:tabLst>
            </a:pPr>
            <a:endParaRPr lang="en-IN" sz="1400" spc="-10" dirty="0">
              <a:latin typeface="Times New Roman"/>
              <a:cs typeface="Times New Roman"/>
            </a:endParaRPr>
          </a:p>
          <a:p>
            <a:pPr marL="252095" marR="182880" indent="-170180">
              <a:lnSpc>
                <a:spcPts val="1650"/>
              </a:lnSpc>
              <a:buFont typeface="Arial MT"/>
              <a:buChar char="•"/>
              <a:tabLst>
                <a:tab pos="25400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8201" y="1719198"/>
            <a:ext cx="4291076" cy="324967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67945" algn="ctr">
              <a:lnSpc>
                <a:spcPct val="100000"/>
              </a:lnSpc>
              <a:spcBef>
                <a:spcPts val="295"/>
              </a:spcBef>
            </a:pPr>
            <a:r>
              <a:rPr sz="2000" b="1" dirty="0">
                <a:latin typeface="Times New Roman"/>
                <a:cs typeface="Times New Roman"/>
              </a:rPr>
              <a:t>Future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Scope</a:t>
            </a:r>
            <a:endParaRPr lang="en-US" sz="2000" b="1" spc="-20" dirty="0">
              <a:latin typeface="Times New Roman"/>
              <a:cs typeface="Times New Roman"/>
            </a:endParaRPr>
          </a:p>
          <a:p>
            <a:pPr marL="67945" algn="ctr">
              <a:lnSpc>
                <a:spcPct val="100000"/>
              </a:lnSpc>
              <a:spcBef>
                <a:spcPts val="295"/>
              </a:spcBef>
            </a:pPr>
            <a:endParaRPr lang="en-US" sz="1400" dirty="0">
              <a:latin typeface="Times New Roman"/>
              <a:cs typeface="Times New Roman"/>
            </a:endParaRPr>
          </a:p>
          <a:p>
            <a:pPr marL="353695" indent="-285750" algn="l">
              <a:lnSpc>
                <a:spcPct val="100000"/>
              </a:lnSpc>
              <a:spcBef>
                <a:spcPts val="295"/>
              </a:spcBef>
              <a:buFont typeface="Arial" panose="020B0604020202020204" pitchFamily="34" charset="0"/>
              <a:buChar char="•"/>
            </a:pPr>
            <a:r>
              <a:rPr sz="1400" dirty="0">
                <a:latin typeface="Times New Roman"/>
                <a:cs typeface="Times New Roman"/>
              </a:rPr>
              <a:t>Expand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predictive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capabilities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integrating </a:t>
            </a:r>
            <a:r>
              <a:rPr sz="1400" dirty="0">
                <a:latin typeface="Times New Roman"/>
                <a:cs typeface="Times New Roman"/>
              </a:rPr>
              <a:t>deeper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ML</a:t>
            </a:r>
            <a:r>
              <a:rPr sz="1400" spc="-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anomaly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detection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server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clusters.</a:t>
            </a:r>
            <a:endParaRPr sz="1400" dirty="0">
              <a:latin typeface="Times New Roman"/>
              <a:cs typeface="Times New Roman"/>
            </a:endParaRPr>
          </a:p>
          <a:p>
            <a:pPr marL="376555" marR="367030" indent="-286385">
              <a:lnSpc>
                <a:spcPct val="102899"/>
              </a:lnSpc>
              <a:spcBef>
                <a:spcPts val="1605"/>
              </a:spcBef>
              <a:buFont typeface="Arial MT"/>
              <a:buChar char="•"/>
              <a:tabLst>
                <a:tab pos="376555" algn="l"/>
              </a:tabLst>
            </a:pPr>
            <a:r>
              <a:rPr sz="1400" dirty="0">
                <a:latin typeface="Times New Roman"/>
                <a:cs typeface="Times New Roman"/>
              </a:rPr>
              <a:t>Move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resolving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incidents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pre-</a:t>
            </a:r>
            <a:r>
              <a:rPr sz="1400" dirty="0">
                <a:latin typeface="Times New Roman"/>
                <a:cs typeface="Times New Roman"/>
              </a:rPr>
              <a:t>emptively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neutralizing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bottlenecks.</a:t>
            </a:r>
            <a:endParaRPr sz="1400" dirty="0">
              <a:latin typeface="Times New Roman"/>
              <a:cs typeface="Times New Roman"/>
            </a:endParaRPr>
          </a:p>
          <a:p>
            <a:pPr marL="376555" marR="120014" indent="-286385">
              <a:lnSpc>
                <a:spcPct val="102800"/>
              </a:lnSpc>
              <a:spcBef>
                <a:spcPts val="1575"/>
              </a:spcBef>
              <a:buFont typeface="Arial MT"/>
              <a:buChar char="•"/>
              <a:tabLst>
                <a:tab pos="376555" algn="l"/>
              </a:tabLst>
            </a:pPr>
            <a:r>
              <a:rPr sz="1400" dirty="0">
                <a:latin typeface="Times New Roman"/>
                <a:cs typeface="Times New Roman"/>
              </a:rPr>
              <a:t>Deeper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Salesforce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Cloud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integration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infrastructure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monitoring.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 MT"/>
              <a:buChar char="•"/>
            </a:pPr>
            <a:endParaRPr sz="1400" dirty="0">
              <a:latin typeface="Times New Roman"/>
              <a:cs typeface="Times New Roman"/>
            </a:endParaRPr>
          </a:p>
          <a:p>
            <a:pPr marL="376555" marR="386715" indent="-286385">
              <a:lnSpc>
                <a:spcPts val="1650"/>
              </a:lnSpc>
              <a:buFont typeface="Arial MT"/>
              <a:buChar char="•"/>
              <a:tabLst>
                <a:tab pos="376555" algn="l"/>
              </a:tabLst>
            </a:pPr>
            <a:r>
              <a:rPr sz="1400" spc="-10" dirty="0">
                <a:latin typeface="Times New Roman"/>
                <a:cs typeface="Times New Roman"/>
              </a:rPr>
              <a:t>Multi-</a:t>
            </a:r>
            <a:r>
              <a:rPr sz="1400" dirty="0">
                <a:latin typeface="Times New Roman"/>
                <a:cs typeface="Times New Roman"/>
              </a:rPr>
              <a:t>tenant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enterprise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deployments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role-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customization.</a:t>
            </a:r>
            <a:endParaRPr lang="en-US" sz="1400" spc="-10" dirty="0">
              <a:latin typeface="Times New Roman"/>
              <a:cs typeface="Times New Roman"/>
            </a:endParaRPr>
          </a:p>
          <a:p>
            <a:pPr marL="376555" marR="386715" indent="-286385">
              <a:lnSpc>
                <a:spcPts val="1650"/>
              </a:lnSpc>
              <a:buFont typeface="Arial MT"/>
              <a:buChar char="•"/>
              <a:tabLst>
                <a:tab pos="37655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4511357" cy="633442"/>
          </a:xfrm>
          <a:prstGeom prst="rect">
            <a:avLst/>
          </a:prstGeom>
        </p:spPr>
        <p:txBody>
          <a:bodyPr vert="horz" wrap="square" lIns="0" tIns="208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References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4480">
              <a:lnSpc>
                <a:spcPct val="133200"/>
              </a:lnSpc>
              <a:spcBef>
                <a:spcPts val="95"/>
              </a:spcBef>
              <a:buFont typeface="Times New Roman"/>
              <a:buAutoNum type="arabicPlain"/>
              <a:tabLst>
                <a:tab pos="297180" algn="l"/>
              </a:tabLst>
            </a:pPr>
            <a:r>
              <a:rPr u="none" dirty="0">
                <a:solidFill>
                  <a:srgbClr val="1A1A1A"/>
                </a:solidFill>
              </a:rPr>
              <a:t>The</a:t>
            </a:r>
            <a:r>
              <a:rPr u="none" spc="-1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AI-Native</a:t>
            </a:r>
            <a:r>
              <a:rPr u="none" spc="9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Enterprise:</a:t>
            </a:r>
            <a:r>
              <a:rPr u="none" spc="24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Rearchitecting</a:t>
            </a:r>
            <a:r>
              <a:rPr u="none" spc="17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GTM</a:t>
            </a:r>
            <a:r>
              <a:rPr u="none" spc="26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Stack</a:t>
            </a:r>
            <a:r>
              <a:rPr u="none" spc="17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for</a:t>
            </a:r>
            <a:r>
              <a:rPr u="none" spc="2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Agent-Driven</a:t>
            </a:r>
            <a:r>
              <a:rPr u="none" spc="180" dirty="0">
                <a:solidFill>
                  <a:srgbClr val="1A1A1A"/>
                </a:solidFill>
              </a:rPr>
              <a:t> </a:t>
            </a:r>
            <a:r>
              <a:rPr u="none" spc="-10" dirty="0">
                <a:solidFill>
                  <a:srgbClr val="1A1A1A"/>
                </a:solidFill>
              </a:rPr>
              <a:t>Operations </a:t>
            </a:r>
            <a:r>
              <a:rPr dirty="0">
                <a:hlinkClick r:id="rId2"/>
              </a:rPr>
              <a:t>https://eapj.org/the-ai-native-enterprise-rearchitecting-your-gtm-stack-for-agent-driven-</a:t>
            </a:r>
            <a:r>
              <a:rPr spc="-10" dirty="0">
                <a:hlinkClick r:id="rId2"/>
              </a:rPr>
              <a:t>operations/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1A1A1A"/>
              </a:buClr>
              <a:buFont typeface="Times New Roman"/>
              <a:buAutoNum type="arabicPlain"/>
            </a:pPr>
            <a:endParaRPr spc="-10" dirty="0">
              <a:hlinkClick r:id="rId2"/>
            </a:endParaRPr>
          </a:p>
          <a:p>
            <a:pPr marL="12700" marR="3455035" indent="288290">
              <a:lnSpc>
                <a:spcPct val="133200"/>
              </a:lnSpc>
              <a:buFont typeface="Times New Roman"/>
              <a:buAutoNum type="arabicPlain"/>
              <a:tabLst>
                <a:tab pos="300990" algn="l"/>
              </a:tabLst>
            </a:pPr>
            <a:r>
              <a:rPr u="none" spc="-10" dirty="0">
                <a:solidFill>
                  <a:srgbClr val="1A1A1A"/>
                </a:solidFill>
              </a:rPr>
              <a:t>IJSAT</a:t>
            </a:r>
            <a:r>
              <a:rPr u="none" spc="8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Research</a:t>
            </a:r>
            <a:r>
              <a:rPr u="none" spc="11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Paper</a:t>
            </a:r>
            <a:r>
              <a:rPr u="none" spc="16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on</a:t>
            </a:r>
            <a:r>
              <a:rPr u="none" spc="-7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Agentic</a:t>
            </a:r>
            <a:r>
              <a:rPr u="none" spc="-5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AI</a:t>
            </a:r>
            <a:r>
              <a:rPr u="none" spc="7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Systems</a:t>
            </a:r>
            <a:r>
              <a:rPr u="none" spc="140" dirty="0">
                <a:solidFill>
                  <a:srgbClr val="1A1A1A"/>
                </a:solidFill>
              </a:rPr>
              <a:t> </a:t>
            </a:r>
            <a:r>
              <a:rPr u="none" spc="-10" dirty="0">
                <a:solidFill>
                  <a:srgbClr val="1A1A1A"/>
                </a:solidFill>
              </a:rPr>
              <a:t>(2024) </a:t>
            </a:r>
            <a:r>
              <a:rPr spc="-10" dirty="0">
                <a:hlinkClick r:id="rId3"/>
              </a:rPr>
              <a:t>https://www.ijsat.org/papers/2024/4/6241.pdf</a:t>
            </a: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1A1A1A"/>
              </a:buClr>
              <a:buFont typeface="Times New Roman"/>
              <a:buAutoNum type="arabicPlain"/>
            </a:pPr>
            <a:endParaRPr spc="-10" dirty="0">
              <a:hlinkClick r:id="rId3"/>
            </a:endParaRPr>
          </a:p>
          <a:p>
            <a:pPr marL="12700" marR="3276600" indent="276860">
              <a:lnSpc>
                <a:spcPct val="133200"/>
              </a:lnSpc>
              <a:spcBef>
                <a:spcPts val="5"/>
              </a:spcBef>
              <a:buFont typeface="Times New Roman"/>
              <a:buAutoNum type="arabicPlain"/>
              <a:tabLst>
                <a:tab pos="289560" algn="l"/>
              </a:tabLst>
            </a:pPr>
            <a:r>
              <a:rPr u="none" dirty="0">
                <a:solidFill>
                  <a:srgbClr val="1A1A1A"/>
                </a:solidFill>
              </a:rPr>
              <a:t>ArXiv</a:t>
            </a:r>
            <a:r>
              <a:rPr u="none" spc="10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Preprint:</a:t>
            </a:r>
            <a:r>
              <a:rPr u="none" spc="-1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Agentic</a:t>
            </a:r>
            <a:r>
              <a:rPr u="none" spc="4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AI</a:t>
            </a:r>
            <a:r>
              <a:rPr u="none" spc="17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in</a:t>
            </a:r>
            <a:r>
              <a:rPr u="none" spc="12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Enterprise</a:t>
            </a:r>
            <a:r>
              <a:rPr u="none" spc="135" dirty="0">
                <a:solidFill>
                  <a:srgbClr val="1A1A1A"/>
                </a:solidFill>
              </a:rPr>
              <a:t> </a:t>
            </a:r>
            <a:r>
              <a:rPr u="none" spc="-10" dirty="0">
                <a:solidFill>
                  <a:srgbClr val="1A1A1A"/>
                </a:solidFill>
              </a:rPr>
              <a:t>Environments </a:t>
            </a:r>
            <a:r>
              <a:rPr spc="-10" dirty="0">
                <a:hlinkClick r:id="rId4"/>
              </a:rPr>
              <a:t>https://arxiv.org/pdf/2604.25724</a:t>
            </a: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1A1A1A"/>
              </a:buClr>
              <a:buFont typeface="Times New Roman"/>
              <a:buAutoNum type="arabicPlain"/>
            </a:pPr>
            <a:endParaRPr spc="-10" dirty="0">
              <a:hlinkClick r:id="rId4"/>
            </a:endParaRPr>
          </a:p>
          <a:p>
            <a:pPr marL="12700" marR="3910329" indent="276860">
              <a:lnSpc>
                <a:spcPct val="133200"/>
              </a:lnSpc>
              <a:buFont typeface="Times New Roman"/>
              <a:buAutoNum type="arabicPlain"/>
              <a:tabLst>
                <a:tab pos="289560" algn="l"/>
              </a:tabLst>
            </a:pPr>
            <a:r>
              <a:rPr u="none" dirty="0">
                <a:solidFill>
                  <a:srgbClr val="1A1A1A"/>
                </a:solidFill>
              </a:rPr>
              <a:t>ArXiv</a:t>
            </a:r>
            <a:r>
              <a:rPr u="none" spc="10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Preprint:</a:t>
            </a:r>
            <a:r>
              <a:rPr u="none" spc="10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Large</a:t>
            </a:r>
            <a:r>
              <a:rPr u="none" spc="50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Action</a:t>
            </a:r>
            <a:r>
              <a:rPr u="none" spc="13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Models</a:t>
            </a:r>
            <a:r>
              <a:rPr u="none" spc="165" dirty="0">
                <a:solidFill>
                  <a:srgbClr val="1A1A1A"/>
                </a:solidFill>
              </a:rPr>
              <a:t> </a:t>
            </a:r>
            <a:r>
              <a:rPr u="none" dirty="0">
                <a:solidFill>
                  <a:srgbClr val="1A1A1A"/>
                </a:solidFill>
              </a:rPr>
              <a:t>for</a:t>
            </a:r>
            <a:r>
              <a:rPr u="none" spc="80" dirty="0">
                <a:solidFill>
                  <a:srgbClr val="1A1A1A"/>
                </a:solidFill>
              </a:rPr>
              <a:t> </a:t>
            </a:r>
            <a:r>
              <a:rPr u="none" spc="-20" dirty="0">
                <a:solidFill>
                  <a:srgbClr val="1A1A1A"/>
                </a:solidFill>
              </a:rPr>
              <a:t>ITSM </a:t>
            </a:r>
            <a:r>
              <a:rPr spc="-10" dirty="0">
                <a:hlinkClick r:id="rId5"/>
              </a:rPr>
              <a:t>https://arxiv.org/pdf/2604.11623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0800" y="3048000"/>
            <a:ext cx="362204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/>
              <a:t>Thank</a:t>
            </a:r>
            <a:r>
              <a:rPr sz="6000" spc="-250" dirty="0"/>
              <a:t> </a:t>
            </a:r>
            <a:r>
              <a:rPr sz="6000" spc="-635" dirty="0"/>
              <a:t>Y</a:t>
            </a:r>
            <a:r>
              <a:rPr sz="6000" spc="25" dirty="0"/>
              <a:t>ou</a:t>
            </a:r>
            <a:endParaRPr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639</Words>
  <Application>Microsoft Office PowerPoint</Application>
  <PresentationFormat>On-screen Show (4:3)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Times New Roman</vt:lpstr>
      <vt:lpstr>Office Theme</vt:lpstr>
      <vt:lpstr>PowerPoint Presentation</vt:lpstr>
      <vt:lpstr>INTRODUCTION</vt:lpstr>
      <vt:lpstr>METHODOLOGY</vt:lpstr>
      <vt:lpstr>TOOLS &amp; TECHNOLOGY STACK</vt:lpstr>
      <vt:lpstr>IMPLEMENTATION</vt:lpstr>
      <vt:lpstr>MAJOR FINDINGS</vt:lpstr>
      <vt:lpstr>Conclusion &amp; Fututre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 R Satish</cp:lastModifiedBy>
  <cp:revision>4</cp:revision>
  <dcterms:created xsi:type="dcterms:W3CDTF">2026-05-19T17:48:37Z</dcterms:created>
  <dcterms:modified xsi:type="dcterms:W3CDTF">2026-05-19T19:47:53Z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2026-05-19T00:00:00Z</vt:filetime>
  </property>
  <property fmtid="{D5CDD505-2E9C-101B-9397-08002B2CF9AE}" pid="4" name="LastSaved">
    <vt:filetime>2026-05-19T00:00:00Z</vt:filetime>
  </property>
  <property fmtid="{D5CDD505-2E9C-101B-9397-08002B2CF9AE}" pid="5" name="MSIP_Label_2a535040-0af2-483f-adc3-a132c21e3e2b_ActionId">
    <vt:lpwstr>cab83ec4-f4fc-4640-903f-3d38380815d7</vt:lpwstr>
  </property>
  <property fmtid="{D5CDD505-2E9C-101B-9397-08002B2CF9AE}" pid="6" name="MSIP_Label_2a535040-0af2-483f-adc3-a132c21e3e2b_ContentBits">
    <vt:lpwstr>0</vt:lpwstr>
  </property>
  <property fmtid="{D5CDD505-2E9C-101B-9397-08002B2CF9AE}" pid="7" name="MSIP_Label_2a535040-0af2-483f-adc3-a132c21e3e2b_Enabled">
    <vt:lpwstr>true</vt:lpwstr>
  </property>
  <property fmtid="{D5CDD505-2E9C-101B-9397-08002B2CF9AE}" pid="8" name="MSIP_Label_2a535040-0af2-483f-adc3-a132c21e3e2b_Method">
    <vt:lpwstr>Standard</vt:lpwstr>
  </property>
  <property fmtid="{D5CDD505-2E9C-101B-9397-08002B2CF9AE}" pid="9" name="MSIP_Label_2a535040-0af2-483f-adc3-a132c21e3e2b_Name">
    <vt:lpwstr>EPAM_Confidential</vt:lpwstr>
  </property>
  <property fmtid="{D5CDD505-2E9C-101B-9397-08002B2CF9AE}" pid="10" name="MSIP_Label_2a535040-0af2-483f-adc3-a132c21e3e2b_SetDate">
    <vt:lpwstr>2026-05-15T07:26:33Z</vt:lpwstr>
  </property>
  <property fmtid="{D5CDD505-2E9C-101B-9397-08002B2CF9AE}" pid="11" name="MSIP_Label_2a535040-0af2-483f-adc3-a132c21e3e2b_SiteId">
    <vt:lpwstr>b41b72d0-4e9f-4c26-8a69-f949f367c91d</vt:lpwstr>
  </property>
  <property fmtid="{D5CDD505-2E9C-101B-9397-08002B2CF9AE}" pid="12" name="MSIP_Label_2a535040-0af2-483f-adc3-a132c21e3e2b_Tag">
    <vt:lpwstr>10, 3, 0, 1</vt:lpwstr>
  </property>
</Properties>
</file>